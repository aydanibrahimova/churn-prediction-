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B3D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Churn (71%)</c:v>
                  </c:pt>
                  <c:pt idx="1">
                    <c:v>Churn (29%)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50526</c:v>
                </c:pt>
                <c:pt idx="1">
                  <c:v>20521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B3D"/>
                </a:solidFill>
                <a:latin typeface="Arial"/>
              </a:rPr>
              <a:t>Model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9DB5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0.649</c:v>
                </c:pt>
                <c:pt idx="2">
                  <c:v>0.673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F7C9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0.379</c:v>
                </c:pt>
                <c:pt idx="1">
                  <c:v>0.408</c:v>
                </c:pt>
                <c:pt idx="2">
                  <c:v>0.45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0.589</c:v>
                </c:pt>
                <c:pt idx="1">
                  <c:v>0.623</c:v>
                </c:pt>
                <c:pt idx="2">
                  <c:v>0.699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E3A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4F8EF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F8EF7"/>
                </a:solidFill>
              </a:rPr>
              <a:t>MACHINE LEARNING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Optuna · Streamlit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737360" cy="868680"/>
          </a:xfrm>
          <a:prstGeom prst="rect">
            <a:avLst/>
          </a:prstGeom>
          <a:solidFill>
            <a:srgbClr val="1E3A6E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</a:rPr>
              <a:t>71K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3657600"/>
            <a:ext cx="1737360" cy="868680"/>
          </a:xfrm>
          <a:prstGeom prst="rect">
            <a:avLst/>
          </a:prstGeom>
          <a:solidFill>
            <a:srgbClr val="1E3A6E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</a:rPr>
              <a:t>0.67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AUC-ROC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3657600"/>
            <a:ext cx="1737360" cy="868680"/>
          </a:xfrm>
          <a:prstGeom prst="rect">
            <a:avLst/>
          </a:prstGeom>
          <a:solidFill>
            <a:srgbClr val="1E3A6E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</a:rPr>
              <a:t>81.7%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8056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Recall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1737360" cy="868680"/>
          </a:xfrm>
          <a:prstGeom prst="rect">
            <a:avLst/>
          </a:prstGeom>
          <a:solidFill>
            <a:srgbClr val="1E3A6E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</a:rPr>
              <a:t>32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Dataset: Cell2Cell Telecom · Binary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PROBLEM &amp;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B3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29% of customers leave every period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Each lost customer = lost lifetime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Reactive approach is too late &amp; costly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No system to identify at-risk customers early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B3D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ML model to predict churn probability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Identify at-risk customers before they leave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Optimize for Recall — catch every churner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Interactive dashboard for business users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800"/>
                </a:solidFill>
              </a:rPr>
              <a:t>💡  Business Logic: Missing a churner is significantly more costly than sending an unnecessary retention offer → optimize for Recall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DATASET &amp; EXPLORATORY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6400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71,047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Total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1920240" cy="64008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58 → 32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51560"/>
            <a:ext cx="192024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28.9%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10515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051560"/>
            <a:ext cx="192024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&lt; 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Missing Values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24028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0" y="2240280"/>
            <a:ext cx="4206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B3D"/>
                </a:solidFill>
              </a:rPr>
              <a:t>KEY EDA FINDINGS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63440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⚠️  PercChangeMinutes NaN → churn rate 56.7% (vs 27.8%)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32186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📊  Max correlation with target ≈ 0.10 → non-linear model needed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36941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📈  CallForwardingCalls skewness = 91.6 → zero-inflation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41696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🔍  71% No Churn / 29% Churn → class imbalance, SMOTE applied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645920" cy="64008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61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325880"/>
            <a:ext cx="457200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8EF7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1645920" cy="640080"/>
          </a:xfrm>
          <a:prstGeom prst="rect">
            <a:avLst/>
          </a:prstGeom>
          <a:solidFill>
            <a:srgbClr val="4F8EF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32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099"/>
                </a:solidFill>
              </a:rPr>
              <a:t>85% cumulative XGBoost importance threshold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B3D"/>
                </a:solidFill>
              </a:rPr>
              <a:t>NEW FEATURES CREATED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841248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MonthsInService × MonthlyRevenue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value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ProblemCallRate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(Dropped + Blocked) /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quality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TenureEquipmentRatio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/ Equipment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pressure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PercChange_missing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flag for PercChangeMinutes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56.7% churn when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194560"/>
            <a:ext cx="8412480" cy="3474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0604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Formula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4924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Rationale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54203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5420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</a:rPr>
              <a:t>CustomerValue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06040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MonthsInService × MonthlyRevenue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4924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Lifetime value proxy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</a:rPr>
              <a:t>ProblemCallRate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60604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(Dropped + Blocked) / Minutes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4924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Network quality signal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3310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</a:rPr>
              <a:t>TenureEquipmentRatio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60604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Tenure / Equipment days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331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Upgrade pressure signal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3694176"/>
            <a:ext cx="841248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0" name="Text 27"/>
          <p:cNvSpPr/>
          <p:nvPr/>
        </p:nvSpPr>
        <p:spPr>
          <a:xfrm>
            <a:off x="411480" y="36941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</a:rPr>
              <a:t>PercChange_missing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606040" y="36941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NaN flag for PercChangeMinutes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49240" y="36941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56.7% churn when missing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🗑  Removed (data leakage): RetentionCalls · RetentionOffersAccepted · MadeCallToRetentionTeam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MODELING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2801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1247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Rare Category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Grouper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Groups infrequent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category values → 'Rare'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36192" y="1417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09928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09928" y="1051560"/>
            <a:ext cx="128016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212848" y="1124712"/>
            <a:ext cx="274320" cy="27432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4" name="Text 12"/>
          <p:cNvSpPr/>
          <p:nvPr/>
        </p:nvSpPr>
        <p:spPr>
          <a:xfrm>
            <a:off x="2212848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Column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Transformer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55648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Impute + Scale / Encode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by feature type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71800" y="1417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45536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45536" y="1051560"/>
            <a:ext cx="128016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3648456" y="112471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648456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91256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Outlier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Capper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91256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Winsorize 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1%–99% percentiles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07408" y="1417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81144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1051560"/>
            <a:ext cx="1280160" cy="73152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7" name="Shape 25"/>
          <p:cNvSpPr/>
          <p:nvPr/>
        </p:nvSpPr>
        <p:spPr>
          <a:xfrm>
            <a:off x="5084064" y="1124712"/>
            <a:ext cx="274320" cy="274320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28" name="Text 26"/>
          <p:cNvSpPr/>
          <p:nvPr/>
        </p:nvSpPr>
        <p:spPr>
          <a:xfrm>
            <a:off x="508406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6864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Yeo-Johnson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Transform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26864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Reduce skewness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in numeric features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43016" y="1417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16752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16752" y="1051560"/>
            <a:ext cx="128016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19672" y="1124712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651967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62472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SMOTE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62472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Oversample minority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class (train only)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78624" y="1417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52360" y="1051560"/>
            <a:ext cx="12801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52360" y="1051560"/>
            <a:ext cx="128016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1" name="Shape 39"/>
          <p:cNvSpPr/>
          <p:nvPr/>
        </p:nvSpPr>
        <p:spPr>
          <a:xfrm>
            <a:off x="7955280" y="1124712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0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0" y="1444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Gradient boosted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trees — final model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26060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2606040"/>
            <a:ext cx="3931920" cy="6400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VALIDATION STRATEGY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3035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5-fold Stratified Cross-Validation
</a:t>
            </a:r>
            <a:pPr indent="0" marL="0">
              <a:buNone/>
            </a:pPr>
            <a:r>
              <a:rPr lang="en-US" sz="1100" dirty="0">
                <a:solidFill>
                  <a:srgbClr val="7B8099"/>
                </a:solidFill>
              </a:rPr>
              <a:t>Preserves 29% churn ratio in every fold
</a:t>
            </a:r>
            <a:pPr indent="0" marL="0">
              <a:buNone/>
            </a:pPr>
            <a:r>
              <a:rPr lang="en-US" sz="1100" dirty="0">
                <a:solidFill>
                  <a:srgbClr val="7B8099"/>
                </a:solidFill>
              </a:rPr>
              <a:t>Primary metric: PR-AUC (Average Precision)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26060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2606040"/>
            <a:ext cx="3931920" cy="64008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OPTUNA TUNING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37760" y="3035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50 trials · TPE Sampler
</a:t>
            </a:r>
            <a:pPr indent="0" marL="0">
              <a:buNone/>
            </a:pPr>
            <a:r>
              <a:rPr lang="en-US" sz="1100" dirty="0">
                <a:solidFill>
                  <a:srgbClr val="7B8099"/>
                </a:solidFill>
              </a:rPr>
              <a:t>Optimizing: PR-AUC via 5-fold CV
</a:t>
            </a:r>
            <a:pPr indent="0" marL="0">
              <a:buNone/>
            </a:pPr>
            <a:r>
              <a:rPr lang="en-US" sz="1100" dirty="0">
                <a:solidFill>
                  <a:srgbClr val="7B8099"/>
                </a:solidFill>
              </a:rPr>
              <a:t>Params: n_estimators, depth, lr, subsample...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MODELS COMPARED: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68880" y="4069080"/>
            <a:ext cx="1920240" cy="640080"/>
          </a:xfrm>
          <a:prstGeom prst="rect">
            <a:avLst/>
          </a:prstGeom>
          <a:solidFill>
            <a:srgbClr val="7B8099">
              <a:alpha val="2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46888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468880" y="4453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Baseline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4069080"/>
            <a:ext cx="192024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66344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63440" y="4453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099"/>
                </a:solidFill>
              </a:rPr>
              <a:t>Ensemble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58000" y="4069080"/>
            <a:ext cx="1920240" cy="640080"/>
          </a:xfrm>
          <a:prstGeom prst="rect">
            <a:avLst/>
          </a:prstGeom>
          <a:solidFill>
            <a:srgbClr val="4F8EF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85800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 ✓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0" y="4453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0FF"/>
                </a:solidFill>
              </a:rPr>
              <a:t>Selected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MODEL RESULTS &amp; THRESHOLD OPTIMIZATION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B3D"/>
                </a:solidFill>
              </a:rPr>
              <a:t>THRESHOLD OPTIMIZATION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0" y="1371600"/>
            <a:ext cx="3108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7B80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099"/>
                </a:solidFill>
              </a:rPr>
              <a:t>Default (0.50)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1719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</a:rPr>
              <a:t>Recall: 69.9%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1719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099"/>
                </a:solidFill>
              </a:rPr>
              <a:t>Precision: 41.4%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560320"/>
            <a:ext cx="310896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Optimal (0.485)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2907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Recall: 81.7%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29077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099"/>
                </a:solidFill>
              </a:rPr>
              <a:t>Precision: 34.8%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32186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8EF7"/>
                </a:solidFill>
              </a:rPr>
              <a:t>← SELECTED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3794760"/>
            <a:ext cx="31089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Recall gain: +11.8 percentage points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B3D"/>
                </a:solidFill>
              </a:rPr>
              <a:t>FINAL RESULTS — 3 STEP IMPROVEMENT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096512"/>
            <a:ext cx="4937760" cy="310896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096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23160" y="40965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36392" y="40965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PR-AUC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849624" y="40965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62856" y="40965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4407408"/>
            <a:ext cx="4937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44074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Baseline (61 feat)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423160" y="4407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0.673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136392" y="4407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0.450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849624" y="4407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0.499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62856" y="4407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69.9%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4718304"/>
            <a:ext cx="4937760" cy="31089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4718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+ Feature Selection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423160" y="47183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0.643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36392" y="47183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0.398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849624" y="47183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0.482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62856" y="47183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71.5%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65760" y="5029200"/>
            <a:ext cx="49377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5029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+ Tuning + Threshold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423160" y="5029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0.646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136392" y="5029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0.399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849624" y="5029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0.488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62856" y="5029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</a:rPr>
              <a:t>81.7%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STREAMLIT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8404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📡  ML Portfolio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011680" cy="347472"/>
          </a:xfrm>
          <a:prstGeom prst="rect">
            <a:avLst/>
          </a:prstGeom>
          <a:solidFill>
            <a:srgbClr val="4F8EF7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🏠 Executive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📊 Data Understanding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🔍 Exploratory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⚙️ Feature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🤖 Modeling &amp; Evaluation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🔬 Model Insights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🎯 Prediction Lab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005840"/>
            <a:ext cx="3017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005840"/>
            <a:ext cx="3017520" cy="6400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</a:rPr>
              <a:t>🏠  Executive Overview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61488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KPI cards · ROC Curve · Confusion Matrix · Feature Importance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1005840"/>
            <a:ext cx="3017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1005840"/>
            <a:ext cx="3017520" cy="64008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</a:rPr>
              <a:t>🔍  Exploratory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07608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Missing values · Skewness · Correlation with 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514600"/>
            <a:ext cx="3017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51760" y="2514600"/>
            <a:ext cx="301752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</a:rPr>
              <a:t>⚙️  Feature 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61488" y="2971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New features · Leakage removal · Importance waterfall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2514600"/>
            <a:ext cx="3017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2514600"/>
            <a:ext cx="301752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007608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</a:rPr>
              <a:t>🎯  Prediction Lab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07608" y="2971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099"/>
                </a:solidFill>
              </a:rPr>
              <a:t>Interactive form · Gauge chart · Risk factors · Real-time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main.py  →  http://localhost:8501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6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8EF7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Why It 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3931920" cy="6400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45920"/>
            <a:ext cx="365760" cy="365760"/>
          </a:xfrm>
          <a:prstGeom prst="ellipse">
            <a:avLst/>
          </a:prstGeom>
          <a:solidFill>
            <a:srgbClr val="4F8EF7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Business-Driven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Recall optimized over Precision — catching churners is the priority, not minimizing false alarms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08760"/>
            <a:ext cx="3931920" cy="64008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64608" y="1645920"/>
            <a:ext cx="365760" cy="365760"/>
          </a:xfrm>
          <a:prstGeom prst="ellipse">
            <a:avLst/>
          </a:prstGeom>
          <a:solidFill>
            <a:srgbClr val="F7C948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C948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Data Leakage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Retention columns removed, SMOTE inside pipeline, threshold tuned on CV predictions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93192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393192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2ECC71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584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Missing value flags as features (56.7% churn signal), domain-knowledge engineered variables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93192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17520"/>
            <a:ext cx="393192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64608" y="3154680"/>
            <a:ext cx="365760" cy="365760"/>
          </a:xfrm>
          <a:prstGeom prst="ellipse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+11.8pp Recall Gain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584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Three sequential steps: feature selection + Optuna tuning + threshold optimization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099"/>
                </a:solidFill>
              </a:rPr>
              <a:t>Final AUC: 0.6455  ·  Recall: 81.7%  ·  F1: 0.488  ·  Threshold: 0.485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PptxGenJS</cp:lastModifiedBy>
  <cp:revision>1</cp:revision>
  <dcterms:created xsi:type="dcterms:W3CDTF">2026-05-15T21:29:23Z</dcterms:created>
  <dcterms:modified xsi:type="dcterms:W3CDTF">2026-05-15T21:29:23Z</dcterms:modified>
</cp:coreProperties>
</file>